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SHANKYAA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08AA0"/>
                </a:solidFill>
                <a:latin typeface="Calibri"/>
              </a:rPr>
              <a:t>Intelligence you can trust. Compression you can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691640"/>
            <a:ext cx="3959352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114800" cy="685800"/>
          </a:xfrm>
          <a:prstGeom prst="rect">
            <a:avLst/>
          </a:prstGeom>
          <a:solidFill>
            <a:srgbClr val="00181F"/>
          </a:solidFill>
          <a:ln w="1270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0756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  <a:latin typeface="Calibri"/>
              </a:rPr>
              <a:t>Omnisiriuss™  —  Biometric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500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9-gate liveness · patent-pending · 0.833% 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2552" y="2011680"/>
            <a:ext cx="4114800" cy="685800"/>
          </a:xfrm>
          <a:prstGeom prst="rect">
            <a:avLst/>
          </a:prstGeom>
          <a:solidFill>
            <a:srgbClr val="1A0012"/>
          </a:solidFill>
          <a:ln w="1270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20756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7A"/>
                </a:solidFill>
                <a:latin typeface="Calibri"/>
              </a:rPr>
              <a:t>Lumisiriuss™  —  Semantic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500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80% compression · 80.9% SSIM · .semvid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926080"/>
            <a:ext cx="2560320" cy="548640"/>
          </a:xfrm>
          <a:prstGeom prst="rect">
            <a:avLst/>
          </a:prstGeom>
          <a:solidFill>
            <a:srgbClr val="001819"/>
          </a:solidFill>
          <a:ln w="635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2FF"/>
                </a:solidFill>
                <a:latin typeface="Calibri"/>
              </a:rPr>
              <a:t>0.833%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369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8AA0"/>
                </a:solidFill>
                <a:latin typeface="Calibri"/>
              </a:rPr>
              <a:t>EER (best)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926080"/>
            <a:ext cx="2560320" cy="548640"/>
          </a:xfrm>
          <a:prstGeom prst="rect">
            <a:avLst/>
          </a:prstGeom>
          <a:solidFill>
            <a:srgbClr val="19000C"/>
          </a:solidFill>
          <a:ln w="635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962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007A"/>
                </a:solidFill>
                <a:latin typeface="Calibr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369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8AA0"/>
                </a:solidFill>
                <a:latin typeface="Calibri"/>
              </a:rPr>
              <a:t>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26080"/>
            <a:ext cx="2560320" cy="548640"/>
          </a:xfrm>
          <a:prstGeom prst="rect">
            <a:avLst/>
          </a:prstGeom>
          <a:solidFill>
            <a:srgbClr val="001610"/>
          </a:solidFill>
          <a:ln w="63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62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A0"/>
                </a:solidFill>
                <a:latin typeface="Calibri"/>
              </a:rPr>
              <a:t>124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369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8AA0"/>
                </a:solidFill>
                <a:latin typeface="Calibri"/>
              </a:rPr>
              <a:t>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926080"/>
            <a:ext cx="2560320" cy="548640"/>
          </a:xfrm>
          <a:prstGeom prst="rect">
            <a:avLst/>
          </a:prstGeom>
          <a:solidFill>
            <a:srgbClr val="0B0019"/>
          </a:solidFill>
          <a:ln w="6350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962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00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369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8AA0"/>
                </a:solidFill>
                <a:latin typeface="Calibri"/>
              </a:rPr>
              <a:t>Patents 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3749039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060"/>
                </a:solidFill>
                <a:latin typeface="Calibri"/>
              </a:rPr>
              <a:t>SAFE instrument  ·  £6M–£10M pre-money  ·  £500K raise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0690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AA0"/>
                </a:solidFill>
                <a:latin typeface="Calibri"/>
              </a:rPr>
              <a:t>Founded by Manjunath  ·  office@shankyaa.com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45720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5060"/>
                </a:solidFill>
                <a:latin typeface="Calibri"/>
              </a:rPr>
              <a:t>SECTION 1 OF 8  ·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007A"/>
                </a:solidFill>
                <a:latin typeface="Calibri"/>
              </a:rPr>
              <a:t>SECTION 2 OF 8  ·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unsolved crises hiding in plain 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FF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3200400"/>
          </a:xfrm>
          <a:prstGeom prst="rect">
            <a:avLst/>
          </a:prstGeom>
          <a:solidFill>
            <a:srgbClr val="080A10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  <a:latin typeface="Calibri"/>
              </a:rPr>
              <a:t>Identity fraud is industrial-scale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8AA0"/>
                </a:solidFill>
                <a:latin typeface="Calibri"/>
              </a:rPr>
              <a:t>Deepfakes pass every static check. 95% of identity systems fail under 2s of AI-generated video. Organisations have no way to verify the person is real, present, and alive — not a replay.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66160" cy="3200400"/>
          </a:xfrm>
          <a:prstGeom prst="rect">
            <a:avLst/>
          </a:prstGeom>
          <a:solidFill>
            <a:srgbClr val="080A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7A"/>
                </a:solidFill>
                <a:latin typeface="Calibri"/>
              </a:rPr>
              <a:t>Video storage is broken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8AA0"/>
                </a:solidFill>
                <a:latin typeface="Calibri"/>
              </a:rPr>
              <a:t>H.264/AV1 compress pixels, not meaning. A 4K stream of a face-to-face call uses the same bandwidth as a stadium crowd. The codec doesn't know what matters — it treats everything equally.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566160" cy="3200400"/>
          </a:xfrm>
          <a:prstGeom prst="rect">
            <a:avLst/>
          </a:prstGeom>
          <a:solidFill>
            <a:srgbClr val="080A10"/>
          </a:solidFill>
          <a:ln w="9525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00FF"/>
                </a:solidFill>
                <a:latin typeface="Calibri"/>
              </a:rPr>
              <a:t>They're the same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060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8AA0"/>
                </a:solidFill>
                <a:latin typeface="Calibri"/>
              </a:rPr>
              <a:t>Trust requires both: knowing who created content (identity) and being able to store and transmit it efficiently (compression). No product solves them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040"/>
                </a:solidFill>
                <a:latin typeface="Calibri"/>
              </a:rPr>
              <a:t>The cost: $billions lost to fraud · petabytes wasted · consumer trust collapsing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SECTION 3 OF 8  ·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proprietary products.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94960" cy="3200400"/>
          </a:xfrm>
          <a:prstGeom prst="rect">
            <a:avLst/>
          </a:prstGeom>
          <a:solidFill>
            <a:srgbClr val="001018"/>
          </a:solidFill>
          <a:ln w="1524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2FF"/>
                </a:solidFill>
                <a:latin typeface="Calibri"/>
              </a:rPr>
              <a:t>Omnisiriuss™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8AA0"/>
                </a:solidFill>
                <a:latin typeface="Calibri"/>
              </a:rPr>
              <a:t>Biometric Identity  ·  9-Gate Liveness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Gate 1  Facial landmark PLR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Gate 2  Micro-expression texture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Gate 3  Blink sequence (anti-replay nonce)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638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4  Depth + 3D geometry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5  ArcFace biometric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57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6  Z-score fusion (0.833% EER)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7  Entropy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513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8  Freshness bit + temporal 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982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Gate 9  Virtual camera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645920"/>
            <a:ext cx="5394960" cy="3200400"/>
          </a:xfrm>
          <a:prstGeom prst="rect">
            <a:avLst/>
          </a:prstGeom>
          <a:solidFill>
            <a:srgbClr val="180010"/>
          </a:solidFill>
          <a:ln w="1524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007A"/>
                </a:solidFill>
                <a:latin typeface="Calibri"/>
              </a:rPr>
              <a:t>Lumisiriuss™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8AA0"/>
                </a:solidFill>
                <a:latin typeface="Calibri"/>
              </a:rPr>
              <a:t>Semantic Video Compression  ·  .semvid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423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80.06% data reduction vs raw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6700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80.9% SSIM fidelity preserved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916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VQ-VAE neural compression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1638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Tamper-evident cryptographic sealing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10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ShankID™ identity embedding per 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657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.semvid open container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044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Lumisirius model: PSNR 29.43 dB trained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1513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Audio: .lumiv format (lossless-aware)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3982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✓  Royalty-bearing codec licensing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F2FF"/>
                </a:solidFill>
                <a:latin typeface="Calibri"/>
              </a:rPr>
              <a:t>The JPEG analogy: JPEG became mandatory for every camera, phone, and browser — .semvid does this but captures directly via licensing from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000FF"/>
                </a:solidFill>
                <a:latin typeface="Calibri"/>
              </a:rPr>
              <a:t>SECTION 4 OF 8  · 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fast-growing markets. One unfair 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7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94960" cy="2560320"/>
          </a:xfrm>
          <a:prstGeom prst="rect">
            <a:avLst/>
          </a:prstGeom>
          <a:solidFill>
            <a:srgbClr val="001018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  <a:latin typeface="Calibri"/>
              </a:rPr>
              <a:t>Omnisiriuss™  —  Identity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TAM  $18B → $44B  by 2030  (37% CAGR deepfake detection)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SAM  $8B  (enterprise video / fintech / KYC)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9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2FF"/>
                </a:solidFill>
                <a:latin typeface="Calibri"/>
              </a:rPr>
              <a:t>SOM  $160M  by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060"/>
                </a:solidFill>
                <a:latin typeface="Calibri"/>
              </a:rPr>
              <a:t>Source: MarketsandMarkets · Emergen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  <a:latin typeface="Calibri"/>
              </a:rPr>
              <a:t>37%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49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AA0"/>
                </a:solidFill>
                <a:latin typeface="Calibri"/>
              </a:rPr>
              <a:t>Deepfake detection fastest-growing 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645920"/>
            <a:ext cx="5394960" cy="2560320"/>
          </a:xfrm>
          <a:prstGeom prst="rect">
            <a:avLst/>
          </a:prstGeom>
          <a:solidFill>
            <a:srgbClr val="1800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7A"/>
                </a:solidFill>
                <a:latin typeface="Calibri"/>
              </a:rPr>
              <a:t>Lumisiriuss™  —  Video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057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TAM  $47B → $77B  by 2030  (live streaming infra)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13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SAM  $12B  (enterprise streaming / broadcast / CDN)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69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7A"/>
                </a:solidFill>
                <a:latin typeface="Calibri"/>
              </a:rPr>
              <a:t>SOM  $240M  by 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8346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060"/>
                </a:solidFill>
                <a:latin typeface="Calibri"/>
              </a:rPr>
              <a:t>Source: GlobeNewswire · TechSci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1089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  <a:latin typeface="Calibri"/>
              </a:rPr>
              <a:t>Codec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3649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AA0"/>
                </a:solidFill>
                <a:latin typeface="Calibri"/>
              </a:rPr>
              <a:t>JPEG-model royalties — every encode is a revenue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389120"/>
            <a:ext cx="6702552" cy="640080"/>
          </a:xfrm>
          <a:prstGeom prst="rect">
            <a:avLst/>
          </a:prstGeom>
          <a:solidFill>
            <a:srgbClr val="0A0018"/>
          </a:solidFill>
          <a:ln w="12700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462272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000FF"/>
                </a:solidFill>
                <a:latin typeface="Calibri"/>
              </a:rPr>
              <a:t>Combined SOM  $400M  by 2030  ·  Combined SAM  $20B+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782312"/>
            <a:ext cx="6702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AA0"/>
                </a:solidFill>
                <a:latin typeface="Calibri"/>
              </a:rPr>
              <a:t>Pre-seed target captures &lt;0.05% of SAM — highly conservative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A0"/>
                </a:solidFill>
                <a:latin typeface="Calibri"/>
              </a:rPr>
              <a:t>SECTION 5 OF 8  ·  PRODUCT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Product &amp;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Working MVP. Real benchmarks. No fluff.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2FF"/>
                </a:solidFill>
                <a:latin typeface="Calibri"/>
              </a:rPr>
              <a:t>0.833%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EER (LFW 6K pairs)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2FF"/>
                </a:solidFill>
                <a:latin typeface="Calibri"/>
              </a:rPr>
              <a:t>99.07%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Accuracy CFP-FP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007A"/>
                </a:solidFill>
                <a:latin typeface="Calibri"/>
              </a:rPr>
              <a:t>80.06%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Compression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007A"/>
                </a:solidFill>
                <a:latin typeface="Calibri"/>
              </a:rPr>
              <a:t>80.9%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SSIM fidelity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834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A0"/>
                </a:solidFill>
                <a:latin typeface="Calibri"/>
              </a:rPr>
              <a:t>124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solidFill>
            <a:srgbClr val="080A10"/>
          </a:solidFill>
          <a:ln w="9525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000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Patents 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"/>
              </a:rPr>
              <a:t>✓  Lumisirius VQ-VAE model trained — epoch 159, PSNR 29.43 dB, SSIM 0.8912 (vast.ai RTX 4080)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70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"/>
              </a:rPr>
              <a:t>✓  ArcFace w600k ONNX native pipeline — beats published CVPR 2019 paper on CFP-FP (99.07% vs 98.37%)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7141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"/>
              </a:rPr>
              <a:t>✓  9-gate liveness system live with blink-sequence anti-replay and virtual camera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725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"/>
              </a:rPr>
              <a:t>✓  NeuralVault encrypted identity vault — enroll, verify, chain-of-custody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○  Gate 10 passive forensic gate — in progress  ·  ○  .semvid player + browser SDK — Q2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007A"/>
                </a:solidFill>
                <a:latin typeface="Calibri"/>
              </a:rPr>
              <a:t>SECTION 6 OF 8  ·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revenue streams. Two products.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FF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66160" cy="3108960"/>
          </a:xfrm>
          <a:prstGeom prst="rect">
            <a:avLst/>
          </a:prstGeom>
          <a:solidFill>
            <a:srgbClr val="080A12"/>
          </a:solidFill>
          <a:ln w="1143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F"/>
                </a:solidFill>
                <a:latin typeface="Calibri"/>
              </a:rPr>
              <a:t>API-as-a-Service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Omnisiriuss™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95728"/>
            <a:ext cx="3291840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$0.003–$0.012 / verification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Enterprise annual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26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SDK + webhook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82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Target: fintech, HR, gov KYC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566160" cy="3108960"/>
          </a:xfrm>
          <a:prstGeom prst="rect">
            <a:avLst/>
          </a:prstGeom>
          <a:solidFill>
            <a:srgbClr val="080A12"/>
          </a:solidFill>
          <a:ln w="1143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7A"/>
                </a:solidFill>
                <a:latin typeface="Calibri"/>
              </a:rPr>
              <a:t>Codec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Lumisiriuss™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395728"/>
            <a:ext cx="3291840" cy="18288"/>
          </a:xfrm>
          <a:prstGeom prst="rect">
            <a:avLst/>
          </a:prstGeom>
          <a:solidFill>
            <a:srgbClr val="FF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5146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JPEG-model: royalty per encode/decode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70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Broadcast &amp; CDN licensing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26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.semvid open standard → mandatory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82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Target: Zoom, Netflix, AWS MediaConvert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91640"/>
            <a:ext cx="3566160" cy="3108960"/>
          </a:xfrm>
          <a:prstGeom prst="rect">
            <a:avLst/>
          </a:prstGeom>
          <a:solidFill>
            <a:srgbClr val="080A12"/>
          </a:solidFill>
          <a:ln w="11430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00FF"/>
                </a:solidFill>
                <a:latin typeface="Calibri"/>
              </a:rPr>
              <a:t>Platform Subscriptions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103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Shankyaa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395728"/>
            <a:ext cx="3291840" cy="18288"/>
          </a:xfrm>
          <a:prstGeom prst="rect">
            <a:avLst/>
          </a:prstGeom>
          <a:solidFill>
            <a:srgbClr val="7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5146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ShankID™ portable identity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70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Developer tier → Enterprise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26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Marketplace + third-party integrations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282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Target: developer ecosystems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983480"/>
            <a:ext cx="10360152" cy="594360"/>
          </a:xfrm>
          <a:prstGeom prst="rect">
            <a:avLst/>
          </a:prstGeom>
          <a:solidFill>
            <a:srgbClr val="05080F"/>
          </a:solidFill>
          <a:ln w="6350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0566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AA0"/>
                </a:solidFill>
                <a:latin typeface="Calibri"/>
              </a:rPr>
              <a:t>Unit economics · Omnisiriuss:  CAC ~£200  ·  LTV ~£8,400  ·  LTV/CAC = 42×  · Gross margin target 85%+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SECTION 7 OF 8  ·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Built by builders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AA0"/>
                </a:solidFill>
                <a:latin typeface="Calibri"/>
              </a:rPr>
              <a:t>Shankyaa was built by one person who invented both products, filed both patents, and shipped a working MVP. The demo is the proof.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08792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657600" cy="2606040"/>
          </a:xfrm>
          <a:prstGeom prst="rect">
            <a:avLst/>
          </a:prstGeom>
          <a:solidFill>
            <a:srgbClr val="001018"/>
          </a:solidFill>
          <a:ln w="1524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Manjunath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F2FF"/>
                </a:solidFill>
                <a:latin typeface="Calibri"/>
              </a:rPr>
              <a:t>CEO &amp; Lead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✓  Invented both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✓  All patent innovations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✓  Full-stack AI/ML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✓  Sole builder of working MVP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474720" cy="2606040"/>
          </a:xfrm>
          <a:prstGeom prst="rect">
            <a:avLst/>
          </a:prstGeom>
          <a:solidFill>
            <a:srgbClr val="080A10"/>
          </a:solidFill>
          <a:ln w="9525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2FF"/>
                </a:solidFill>
                <a:latin typeface="Calibri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07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2FF"/>
                </a:solidFill>
                <a:latin typeface="Calibri"/>
              </a:rPr>
              <a:t>Hiring — Q2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Video AI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74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CLIP / diffusion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Reconstruction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965960"/>
            <a:ext cx="3474720" cy="2606040"/>
          </a:xfrm>
          <a:prstGeom prst="rect">
            <a:avLst/>
          </a:prstGeom>
          <a:solidFill>
            <a:srgbClr val="080A10"/>
          </a:solidFill>
          <a:ln w="9525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A0"/>
                </a:solidFill>
                <a:latin typeface="Calibri"/>
              </a:rPr>
              <a:t>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Enterprise BD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907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A0"/>
                </a:solidFill>
                <a:latin typeface="Calibri"/>
              </a:rPr>
              <a:t>Hiring — 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Video platform 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474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Enterprise SaaS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AA0"/>
                </a:solidFill>
                <a:latin typeface="Calibri"/>
              </a:rPr>
              <a:t>○  Standards body engagement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74552" cy="594360"/>
          </a:xfrm>
          <a:prstGeom prst="rect">
            <a:avLst/>
          </a:prstGeom>
          <a:solidFill>
            <a:srgbClr val="001018"/>
          </a:solidFill>
          <a:ln w="9525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82803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2FF"/>
                </a:solidFill>
                <a:latin typeface="Calibri"/>
              </a:rPr>
              <a:t>Looking for advisors with connections at Netflix, YouTube, Zoom, AWS, MPEG, ITU, W3C. If you can open those doors, that matters as much as the cheque.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000FF"/>
                </a:solidFill>
                <a:latin typeface="Calibri"/>
              </a:rPr>
              <a:t>SECTION 8 OF 8  · 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We don't compete — we combine what no one else has built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7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Real-time
Liveness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584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AI Deepfake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216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Semantic
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Identity
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Tamper
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1600200"/>
            <a:ext cx="1627632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Open
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75688"/>
            <a:ext cx="1627632" cy="345643"/>
          </a:xfrm>
          <a:prstGeom prst="rect">
            <a:avLst/>
          </a:prstGeom>
          <a:solidFill>
            <a:srgbClr val="00121E"/>
          </a:solidFill>
          <a:ln w="7620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121408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2FF"/>
                </a:solidFill>
                <a:latin typeface="Calibri"/>
              </a:rPr>
              <a:t>Omnisiriuss™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9584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7216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40112" y="2075688"/>
            <a:ext cx="1627632" cy="345643"/>
          </a:xfrm>
          <a:prstGeom prst="rect">
            <a:avLst/>
          </a:prstGeom>
          <a:solidFill>
            <a:srgbClr val="00121E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121408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459736"/>
            <a:ext cx="1627632" cy="345643"/>
          </a:xfrm>
          <a:prstGeom prst="rect">
            <a:avLst/>
          </a:prstGeom>
          <a:solidFill>
            <a:srgbClr val="180010"/>
          </a:solidFill>
          <a:ln w="762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2505456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7A"/>
                </a:solidFill>
                <a:latin typeface="Calibri"/>
              </a:rPr>
              <a:t>Lumisiriuss™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1952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1952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9584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57216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216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84848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0112" y="2459736"/>
            <a:ext cx="1627632" cy="345643"/>
          </a:xfrm>
          <a:prstGeom prst="rect">
            <a:avLst/>
          </a:prstGeom>
          <a:solidFill>
            <a:srgbClr val="180010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0112" y="2505456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A0"/>
                </a:solidFill>
                <a:latin typeface="Calibri"/>
              </a:rPr>
              <a:t>✓✓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43784"/>
            <a:ext cx="1627632" cy="345643"/>
          </a:xfrm>
          <a:prstGeom prst="rect">
            <a:avLst/>
          </a:prstGeom>
          <a:solidFill>
            <a:srgbClr val="08090C"/>
          </a:solidFill>
          <a:ln w="381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2889503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iProov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01952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9584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9584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57216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57216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84848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2843784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0112" y="2889503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227832"/>
            <a:ext cx="1627632" cy="345643"/>
          </a:xfrm>
          <a:prstGeom prst="rect">
            <a:avLst/>
          </a:prstGeom>
          <a:solidFill>
            <a:srgbClr val="08090C"/>
          </a:solidFill>
          <a:ln w="381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8" y="3273551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Jumio / Onfido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01952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9584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57216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57216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4848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40112" y="3227832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40112" y="3273551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611880"/>
            <a:ext cx="1627632" cy="345643"/>
          </a:xfrm>
          <a:prstGeom prst="rect">
            <a:avLst/>
          </a:prstGeom>
          <a:solidFill>
            <a:srgbClr val="08090C"/>
          </a:solidFill>
          <a:ln w="381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" y="3657600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AWS Rekognition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01952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01952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9584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9584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57216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57216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84848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84848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12480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0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0112" y="3611880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40112" y="3657600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3995927"/>
            <a:ext cx="1627632" cy="345643"/>
          </a:xfrm>
          <a:prstGeom prst="rect">
            <a:avLst/>
          </a:prstGeom>
          <a:solidFill>
            <a:srgbClr val="08090C"/>
          </a:solidFill>
          <a:ln w="381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8328" y="4041647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AV1 / H.266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01952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01952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29584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29584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57216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57216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84848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84848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12480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12480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40112" y="3995927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40112" y="4041647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379975"/>
            <a:ext cx="1627632" cy="345643"/>
          </a:xfrm>
          <a:prstGeom prst="rect">
            <a:avLst/>
          </a:prstGeom>
          <a:solidFill>
            <a:srgbClr val="08090C"/>
          </a:solidFill>
          <a:ln w="381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8328" y="4425695"/>
            <a:ext cx="153619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AA0"/>
                </a:solidFill>
                <a:latin typeface="Calibri"/>
              </a:rPr>
              <a:t>Microsoft Azure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901952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529584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29584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AA0"/>
                </a:solidFill>
                <a:latin typeface="Calibri"/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57216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57216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84848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84848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2480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0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40112" y="4379975"/>
            <a:ext cx="1627632" cy="345643"/>
          </a:xfrm>
          <a:prstGeom prst="rect">
            <a:avLst/>
          </a:prstGeom>
          <a:solidFill>
            <a:srgbClr val="08090C"/>
          </a:solidFill>
          <a:ln w="2540">
            <a:solidFill>
              <a:srgbClr val="4A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40112" y="4425695"/>
            <a:ext cx="1627632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060"/>
                </a:solidFill>
                <a:latin typeface="Calibr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5060"/>
                </a:solidFill>
                <a:latin typeface="Calibri"/>
              </a:rPr>
              <a:t>✓✓ = proprietary advantage  ·  ✓ = feature exists (no moat)  ·  — = not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000FF"/>
                </a:solidFill>
                <a:latin typeface="Calibri"/>
              </a:rPr>
              <a:t>APPENDIX  ·  IP &amp; PATENTS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Intellectual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patents. One moat.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7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394960" cy="2377440"/>
          </a:xfrm>
          <a:prstGeom prst="rect">
            <a:avLst/>
          </a:prstGeom>
          <a:solidFill>
            <a:srgbClr val="080018"/>
          </a:solidFill>
          <a:ln w="12700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00FF"/>
                </a:solidFill>
                <a:latin typeface="Calibri"/>
              </a:rPr>
              <a:t>Patent 1 — Multi-Gate Biometric Liveness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9-gate sequential challenge-response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Blink nonce anti-replay with temporal hash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426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Z-score ArcFace + FaceNet dual-embedding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Virtual camera detection (WebRTC fingerprint)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36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Passive forensic analysis (Gate 10, in progress)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691640"/>
            <a:ext cx="5394960" cy="2377440"/>
          </a:xfrm>
          <a:prstGeom prst="rect">
            <a:avLst/>
          </a:prstGeom>
          <a:solidFill>
            <a:srgbClr val="180010"/>
          </a:solidFill>
          <a:ln w="1270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7A"/>
                </a:solidFill>
                <a:latin typeface="Calibri"/>
              </a:rPr>
              <a:t>Patent 2 — Semantic Video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48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VQ-VAE codebook-based semantic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95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ShankID™ identity embedding per keyframe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6426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.semvid container: semantic + cryptographic seal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89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Tamper-evident frame authentication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136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Codec licensing architecture (JPEG royalty model)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2FF"/>
                </a:solidFill>
                <a:latin typeface="Calibri"/>
              </a:rPr>
              <a:t>Status: patent-pending in UK. Provisional filings lodged. Offensive IP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A0"/>
                </a:solidFill>
                <a:latin typeface="Calibri"/>
              </a:rPr>
              <a:t>APPENDIX  ·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18-month plan from pre-seed to Series A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743200" cy="2926080"/>
          </a:xfrm>
          <a:prstGeom prst="rect">
            <a:avLst/>
          </a:prstGeom>
          <a:solidFill>
            <a:srgbClr val="080A10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830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Q2 2026 —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488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Gate 10 passive forensic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9631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.semvid browser SDK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43784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ML Engineer hired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191256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Pilot conversations: 3 enterprise targets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743200" cy="2926080"/>
          </a:xfrm>
          <a:prstGeom prst="rect">
            <a:avLst/>
          </a:prstGeom>
          <a:solidFill>
            <a:srgbClr val="080A10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7830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F2FF"/>
                </a:solidFill>
                <a:latin typeface="Calibri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1488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Omnisiriuss public API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49631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First paying pilot (£25K+ ACV)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843784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AV1 compression benchmark 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191256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ShankID™ developer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2743200" cy="2926080"/>
          </a:xfrm>
          <a:prstGeom prst="rect">
            <a:avLst/>
          </a:prstGeom>
          <a:solidFill>
            <a:srgbClr val="080A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7830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007A"/>
                </a:solidFill>
                <a:latin typeface="Calibri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488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Lumisiriuss codec licensing POC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49631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Series A materials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43784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Broadcast / streaming partnership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91256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Open .semvid spec submission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691640"/>
            <a:ext cx="2743200" cy="2926080"/>
          </a:xfrm>
          <a:prstGeom prst="rect">
            <a:avLst/>
          </a:prstGeom>
          <a:solidFill>
            <a:srgbClr val="080A10"/>
          </a:solidFill>
          <a:ln w="9525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7830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00FF"/>
                </a:solidFill>
                <a:latin typeface="Calibri"/>
              </a:rPr>
              <a:t>2027 — Series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1488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£3M–£5M raise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49631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Standards body engagement (MPEG/ITU)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843784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First flagship customer at £250K+ ACV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191256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·  Platform marketplace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2FF"/>
                </a:solidFill>
                <a:latin typeface="Calibri"/>
              </a:rPr>
              <a:t>Key milestone: one flagship customer (Zoom, Teams, or major broadcaster) at £250K+ validates full model and unlocks Series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F2FF"/>
                </a:solidFill>
                <a:latin typeface="Calibri"/>
              </a:rPr>
              <a:t>APPENDIX  ·  FUNDING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8AA0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£500K SAFE · £6M–£10M pre-money · Pre-seed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394960" cy="1005840"/>
          </a:xfrm>
          <a:prstGeom prst="rect">
            <a:avLst/>
          </a:prstGeom>
          <a:solidFill>
            <a:srgbClr val="080A12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2FF"/>
                </a:solidFill>
                <a:latin typeface="Calibri"/>
              </a:rPr>
              <a:t>£200K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00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ML Engineer hire Q2 · GPU compute · API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394960" cy="1005840"/>
          </a:xfrm>
          <a:prstGeom prst="rect">
            <a:avLst/>
          </a:prstGeom>
          <a:solidFill>
            <a:srgbClr val="080A12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007A"/>
                </a:solidFill>
                <a:latin typeface="Calibri"/>
              </a:rPr>
              <a:t>£150K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500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Enterprise BD Lead Q3 · events · pilot programmes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394960" cy="1005840"/>
          </a:xfrm>
          <a:prstGeom prst="rect">
            <a:avLst/>
          </a:prstGeom>
          <a:solidFill>
            <a:srgbClr val="080A12"/>
          </a:solidFill>
          <a:ln w="9525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00FF"/>
                </a:solidFill>
                <a:latin typeface="Calibri"/>
              </a:rPr>
              <a:t>£100K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Legal &amp;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Patent prosecution UK/EU/US · corporate structure ·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880360"/>
            <a:ext cx="5394960" cy="1005840"/>
          </a:xfrm>
          <a:prstGeom prst="rect">
            <a:avLst/>
          </a:prstGeom>
          <a:solidFill>
            <a:srgbClr val="080A12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A0"/>
                </a:solidFill>
                <a:latin typeface="Calibri"/>
              </a:rPr>
              <a:t>£50K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91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38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AA0"/>
                </a:solidFill>
                <a:latin typeface="Calibri"/>
              </a:rPr>
              <a:t>Cloud (AWS/GCP) · security audits ·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AA0"/>
                </a:solidFill>
                <a:latin typeface="Calibri"/>
              </a:rPr>
              <a:t>Post-raise runway: 18 months  ·  Target: first £25K ACV pilot within 6 months  ·  Series A readiness by Q4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617720"/>
            <a:ext cx="9445752" cy="685800"/>
          </a:xfrm>
          <a:prstGeom prst="rect">
            <a:avLst/>
          </a:prstGeom>
          <a:solidFill>
            <a:srgbClr val="001018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690872"/>
            <a:ext cx="9445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2FF"/>
                </a:solidFill>
                <a:latin typeface="Calibri"/>
              </a:rPr>
              <a:t>SAFE instrument  ·  No board seat required at pre-seed  ·  Conversion cap: £10M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65192"/>
            <a:ext cx="9445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8AA0"/>
                </a:solidFill>
                <a:latin typeface="Calibri"/>
              </a:rPr>
              <a:t>Prorata rights offered for £100K+ tickets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SHANKYAA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08AA0"/>
                </a:solidFill>
                <a:latin typeface="Calibri"/>
              </a:rPr>
              <a:t>Identity. Compression.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600200"/>
            <a:ext cx="3959352" cy="1828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1874519"/>
            <a:ext cx="2743200" cy="777240"/>
          </a:xfrm>
          <a:prstGeom prst="rect">
            <a:avLst/>
          </a:prstGeom>
          <a:solidFill>
            <a:srgbClr val="080A10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2FF"/>
                </a:solidFill>
                <a:latin typeface="Calibri"/>
              </a:rPr>
              <a:t>$120B+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AA0"/>
                </a:solidFill>
                <a:latin typeface="Calibri"/>
              </a:rPr>
              <a:t>Combined SAM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74519"/>
            <a:ext cx="2743200" cy="777240"/>
          </a:xfrm>
          <a:prstGeom prst="rect">
            <a:avLst/>
          </a:prstGeom>
          <a:solidFill>
            <a:srgbClr val="080A10"/>
          </a:solidFill>
          <a:ln w="9525">
            <a:solidFill>
              <a:srgbClr val="7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00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AA0"/>
                </a:solidFill>
                <a:latin typeface="Calibri"/>
              </a:rPr>
              <a:t>Patents pending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874519"/>
            <a:ext cx="2743200" cy="777240"/>
          </a:xfrm>
          <a:prstGeom prst="rect">
            <a:avLst/>
          </a:prstGeom>
          <a:solidFill>
            <a:srgbClr val="080A10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A0"/>
                </a:solidFill>
                <a:latin typeface="Calibri"/>
              </a:rPr>
              <a:t>£500K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AA0"/>
                </a:solidFill>
                <a:latin typeface="Calibri"/>
              </a:rPr>
              <a:t>Pre-seed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8803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Ready to invest or partner?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2FF"/>
                </a:solidFill>
                <a:latin typeface="Calibri"/>
              </a:rPr>
              <a:t>office@shankyaa.com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37033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060"/>
                </a:solidFill>
                <a:latin typeface="Calibri"/>
              </a:rPr>
              <a:t>SAFE instrument  ·  £6M–£10M pre-money  ·  £500K raise  ·  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114800"/>
            <a:ext cx="4206240" cy="685800"/>
          </a:xfrm>
          <a:prstGeom prst="rect">
            <a:avLst/>
          </a:prstGeom>
          <a:solidFill>
            <a:srgbClr val="001018"/>
          </a:solidFill>
          <a:ln w="9525"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18795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2FF"/>
                </a:solidFill>
                <a:latin typeface="Calibri"/>
              </a:rPr>
              <a:t>Omnisiriuss™  —  0.833% EER  ·  9-gate liveness  ·  patent-pending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1112" y="4114800"/>
            <a:ext cx="4206240" cy="685800"/>
          </a:xfrm>
          <a:prstGeom prst="rect">
            <a:avLst/>
          </a:prstGeom>
          <a:solidFill>
            <a:srgbClr val="180010"/>
          </a:solidFill>
          <a:ln w="9525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18795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007A"/>
                </a:solidFill>
                <a:latin typeface="Calibri"/>
              </a:rPr>
              <a:t>Lumisiriuss™  —  80% compression  ·  .semvid  ·  patent-pending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074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5060"/>
                </a:solidFill>
                <a:latin typeface="Calibri"/>
              </a:rPr>
              <a:t>Founded by Manjunath  ·  Shankyaa Ltd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